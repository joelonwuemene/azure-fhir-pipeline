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9"/>
    <p:restoredTop sz="94610"/>
  </p:normalViewPr>
  <p:slideViewPr>
    <p:cSldViewPr snapToGrid="0" snapToObjects="1">
      <p:cViewPr varScale="1">
        <p:scale>
          <a:sx n="226" d="100"/>
          <a:sy n="226" d="100"/>
        </p:scale>
        <p:origin x="4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3" Type="http://schemas.openxmlformats.org/officeDocument/2006/relationships/notesMaster" Target="notesMasters/notesMaster1.xml"/>
  <Relationship Id="rId7" Type="http://schemas.openxmlformats.org/officeDocument/2006/relationships/tableStyles" Target="tableStyles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theme" Target="theme/theme1.xml"/>
  <Relationship Id="rId5" Type="http://schemas.openxmlformats.org/officeDocument/2006/relationships/viewProps" Target="viewProps.xml"/>
  <Relationship Id="rId4" Type="http://schemas.openxmlformats.org/officeDocument/2006/relationships/presProps" Target="presProps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33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1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2" Type="http://schemas.openxmlformats.org/officeDocument/2006/relationships/theme" Target="../theme/theme1.xml"/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8" Type="http://schemas.openxmlformats.org/officeDocument/2006/relationships/image" Target="../media/image6.png"/>
  <Relationship Id="rId3" Type="http://schemas.openxmlformats.org/officeDocument/2006/relationships/image" Target="../media/image1.png"/>
  <Relationship Id="rId7" Type="http://schemas.openxmlformats.org/officeDocument/2006/relationships/image" Target="../media/image5.png"/>
  <Relationship Id="rId12" Type="http://schemas.openxmlformats.org/officeDocument/2006/relationships/image" Target="../media/image10.png"/>
  <Relationship Id="rId2" Type="http://schemas.openxmlformats.org/officeDocument/2006/relationships/notesSlide" Target="../notesSlides/notesSlide1.xml"/>
  <Relationship Id="rId1" Type="http://schemas.openxmlformats.org/officeDocument/2006/relationships/slideLayout" Target="../slideLayouts/slideLayout1.xml"/>
  <Relationship Id="rId6" Type="http://schemas.openxmlformats.org/officeDocument/2006/relationships/image" Target="../media/image4.png"/>
  <Relationship Id="rId11" Type="http://schemas.openxmlformats.org/officeDocument/2006/relationships/image" Target="../media/image9.png"/>
  <Relationship Id="rId5" Type="http://schemas.openxmlformats.org/officeDocument/2006/relationships/image" Target="../media/image3.png"/>
  <Relationship Id="rId10" Type="http://schemas.openxmlformats.org/officeDocument/2006/relationships/image" Target="../media/image8.png"/>
  <Relationship Id="rId4" Type="http://schemas.openxmlformats.org/officeDocument/2006/relationships/image" Target="../media/image2.png"/>
  <Relationship Id="rId9" Type="http://schemas.openxmlformats.org/officeDocument/2006/relationships/image" Target="../media/image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Healthcare FHIR Integration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v2.x  →  FHIR R4   |   HIPAA-Compliant   |   IaC-Deployed   |   CI/CD Automated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380744"/>
            <a:ext cx="118872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35024"/>
            <a:ext cx="1188720" cy="749808"/>
          </a:xfrm>
          <a:prstGeom prst="roundRect">
            <a:avLst>
              <a:gd name="adj" fmla="val 1097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v2.x Source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ORU^R01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4688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822960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031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33600" y="1335024"/>
            <a:ext cx="1203960" cy="749808"/>
          </a:xfrm>
          <a:prstGeom prst="roundRect">
            <a:avLst>
              <a:gd name="adj" fmla="val 1097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0574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031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&lt;prefix&gt;-sb-lab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0690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82296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7033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0" y="133502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773ADC"/>
          </a:solidFill>
          <a:ln w="12700">
            <a:solidFill>
              <a:srgbClr val="773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576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App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7033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&lt;prefix&gt;-la-lab · $convert-data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56692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822960"/>
            <a:ext cx="365760" cy="3657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3035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257800" y="133502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0062AD"/>
          </a:solidFill>
          <a:ln w="12700">
            <a:solidFill>
              <a:srgbClr val="0062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2578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53035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&lt;prefix&gt;-func-validate</a:t>
            </a:r>
            <a:endParaRPr lang="en-US" sz="650" dirty="0"/>
          </a:p>
        </p:txBody>
      </p:sp>
      <p:sp>
        <p:nvSpPr>
          <p:cNvPr id="29" name="Shape 24"/>
          <p:cNvSpPr/>
          <p:nvPr/>
        </p:nvSpPr>
        <p:spPr>
          <a:xfrm>
            <a:off x="72694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8229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9037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858000" y="133502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8580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Server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9037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&lt;ahds-ws&gt;-&lt;fhir-svc&gt;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88696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822960"/>
            <a:ext cx="365760" cy="36576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5039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8458200" y="133502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0089D6"/>
          </a:solidFill>
          <a:ln w="1270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84582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Gen2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85039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&lt;prefix&gt;-adls-lab</a:t>
            </a:r>
            <a:endParaRPr lang="en-US" sz="650" dirty="0"/>
          </a:p>
        </p:txBody>
      </p:sp>
      <p:sp>
        <p:nvSpPr>
          <p:cNvPr id="41" name="Shape 34"/>
          <p:cNvSpPr/>
          <p:nvPr/>
        </p:nvSpPr>
        <p:spPr>
          <a:xfrm>
            <a:off x="1046988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822960"/>
            <a:ext cx="365760" cy="36576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104120" y="138074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10058400" y="1335024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10058400" y="138988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Synapse Analytics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10104120" y="1724924"/>
            <a:ext cx="118872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Pool</a:t>
            </a:r>
            <a:endParaRPr lang="en-US" sz="650" dirty="0"/>
          </a:p>
        </p:txBody>
      </p:sp>
      <p:sp>
        <p:nvSpPr>
          <p:cNvPr id="47" name="Shape 39"/>
          <p:cNvSpPr/>
          <p:nvPr/>
        </p:nvSpPr>
        <p:spPr>
          <a:xfrm>
            <a:off x="1627632" y="1709928"/>
            <a:ext cx="505968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16276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ORU_R01</a:t>
            </a:r>
            <a:endParaRPr lang="en-US" sz="650" dirty="0"/>
          </a:p>
        </p:txBody>
      </p:sp>
      <p:sp>
        <p:nvSpPr>
          <p:cNvPr id="49" name="Shape 41"/>
          <p:cNvSpPr/>
          <p:nvPr/>
        </p:nvSpPr>
        <p:spPr>
          <a:xfrm>
            <a:off x="3337560" y="1709928"/>
            <a:ext cx="320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32278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650" dirty="0"/>
          </a:p>
        </p:txBody>
      </p:sp>
      <p:sp>
        <p:nvSpPr>
          <p:cNvPr id="51" name="Shape 43"/>
          <p:cNvSpPr/>
          <p:nvPr/>
        </p:nvSpPr>
        <p:spPr>
          <a:xfrm>
            <a:off x="4937760" y="1709928"/>
            <a:ext cx="320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48280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endParaRPr lang="en-US" sz="650" dirty="0"/>
          </a:p>
        </p:txBody>
      </p:sp>
      <p:sp>
        <p:nvSpPr>
          <p:cNvPr id="53" name="Shape 45"/>
          <p:cNvSpPr/>
          <p:nvPr/>
        </p:nvSpPr>
        <p:spPr>
          <a:xfrm>
            <a:off x="6537960" y="1709928"/>
            <a:ext cx="320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64282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650" dirty="0"/>
          </a:p>
        </p:txBody>
      </p:sp>
      <p:sp>
        <p:nvSpPr>
          <p:cNvPr id="55" name="Shape 47"/>
          <p:cNvSpPr/>
          <p:nvPr/>
        </p:nvSpPr>
        <p:spPr>
          <a:xfrm>
            <a:off x="8138160" y="1709928"/>
            <a:ext cx="320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80284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$export</a:t>
            </a:r>
            <a:endParaRPr lang="en-US" sz="650" dirty="0"/>
          </a:p>
        </p:txBody>
      </p:sp>
      <p:sp>
        <p:nvSpPr>
          <p:cNvPr id="57" name="Shape 49"/>
          <p:cNvSpPr/>
          <p:nvPr/>
        </p:nvSpPr>
        <p:spPr>
          <a:xfrm>
            <a:off x="9738360" y="1709928"/>
            <a:ext cx="32004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/>
          <p:nvPr/>
        </p:nvSpPr>
        <p:spPr>
          <a:xfrm>
            <a:off x="9628632" y="1517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650" dirty="0"/>
          </a:p>
        </p:txBody>
      </p:sp>
      <p:sp>
        <p:nvSpPr>
          <p:cNvPr id="59" name="Shape 51"/>
          <p:cNvSpPr/>
          <p:nvPr/>
        </p:nvSpPr>
        <p:spPr>
          <a:xfrm>
            <a:off x="4297680" y="2084832"/>
            <a:ext cx="0" cy="329184"/>
          </a:xfrm>
          <a:prstGeom prst="line">
            <a:avLst/>
          </a:prstGeom>
          <a:noFill/>
          <a:ln w="2286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4361688" y="2157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700" dirty="0"/>
          </a:p>
        </p:txBody>
      </p:sp>
      <p:sp>
        <p:nvSpPr>
          <p:cNvPr id="61" name="Shape 53"/>
          <p:cNvSpPr/>
          <p:nvPr/>
        </p:nvSpPr>
        <p:spPr>
          <a:xfrm>
            <a:off x="3337560" y="244144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FEF9E7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/>
          <p:nvPr/>
        </p:nvSpPr>
        <p:spPr>
          <a:xfrm>
            <a:off x="3337560" y="24414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Queue  +  Terminate</a:t>
            </a:r>
            <a:endParaRPr lang="en-US" sz="850" dirty="0"/>
          </a:p>
        </p:txBody>
      </p:sp>
      <p:sp>
        <p:nvSpPr>
          <p:cNvPr id="63" name="Shape 55"/>
          <p:cNvSpPr/>
          <p:nvPr/>
        </p:nvSpPr>
        <p:spPr>
          <a:xfrm>
            <a:off x="7498080" y="2084832"/>
            <a:ext cx="0" cy="256032"/>
          </a:xfrm>
          <a:prstGeom prst="line">
            <a:avLst/>
          </a:prstGeom>
          <a:noFill/>
          <a:ln w="12700">
            <a:solidFill>
              <a:srgbClr val="2E75B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6"/>
          <p:cNvSpPr/>
          <p:nvPr/>
        </p:nvSpPr>
        <p:spPr>
          <a:xfrm>
            <a:off x="6501384" y="2359152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D5E8F0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7"/>
          <p:cNvSpPr/>
          <p:nvPr/>
        </p:nvSpPr>
        <p:spPr>
          <a:xfrm>
            <a:off x="6501384" y="23591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750" dirty="0"/>
          </a:p>
        </p:txBody>
      </p:sp>
      <p:sp>
        <p:nvSpPr>
          <p:cNvPr id="66" name="Shape 58"/>
          <p:cNvSpPr/>
          <p:nvPr/>
        </p:nvSpPr>
        <p:spPr>
          <a:xfrm>
            <a:off x="7187184" y="2359152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D5E8F0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/>
          <p:nvPr/>
        </p:nvSpPr>
        <p:spPr>
          <a:xfrm>
            <a:off x="7187184" y="23591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68" name="Shape 60"/>
          <p:cNvSpPr/>
          <p:nvPr/>
        </p:nvSpPr>
        <p:spPr>
          <a:xfrm>
            <a:off x="7872984" y="2359152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D5E8F0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7872984" y="23591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DiagReport</a:t>
            </a:r>
            <a:endParaRPr lang="en-US" sz="750" dirty="0"/>
          </a:p>
        </p:txBody>
      </p:sp>
      <p:sp>
        <p:nvSpPr>
          <p:cNvPr id="70" name="Shape 62"/>
          <p:cNvSpPr/>
          <p:nvPr/>
        </p:nvSpPr>
        <p:spPr>
          <a:xfrm>
            <a:off x="8853920" y="2340864"/>
            <a:ext cx="1645920" cy="475488"/>
          </a:xfrm>
          <a:prstGeom prst="roundRect">
            <a:avLst>
              <a:gd name="adj" fmla="val 13462"/>
            </a:avLst>
          </a:prstGeom>
          <a:solidFill>
            <a:srgbClr val="FEF9E7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8853920" y="234086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De-identification
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CRYPTOHASH · HIPAA Safe Harbor</a:t>
            </a:r>
            <a:endParaRPr lang="en-US" sz="650" dirty="0"/>
          </a:p>
        </p:txBody>
      </p:sp>
      <p:sp>
        <p:nvSpPr>
          <p:cNvPr id="72" name="Shape 64"/>
          <p:cNvSpPr/>
          <p:nvPr/>
        </p:nvSpPr>
        <p:spPr>
          <a:xfrm>
            <a:off x="274320" y="3017520"/>
            <a:ext cx="1161288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5"/>
          <p:cNvSpPr/>
          <p:nvPr/>
        </p:nvSpPr>
        <p:spPr>
          <a:xfrm>
            <a:off x="274320" y="3154680"/>
            <a:ext cx="4663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66"/>
          <p:cNvSpPr/>
          <p:nvPr/>
        </p:nvSpPr>
        <p:spPr>
          <a:xfrm>
            <a:off x="274320" y="3154680"/>
            <a:ext cx="4663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411480" y="3154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Governance</a:t>
            </a:r>
            <a:endParaRPr lang="en-US" sz="1000" dirty="0"/>
          </a:p>
        </p:txBody>
      </p:sp>
      <p:sp>
        <p:nvSpPr>
          <p:cNvPr id="76" name="Shape 68"/>
          <p:cNvSpPr/>
          <p:nvPr/>
        </p:nvSpPr>
        <p:spPr>
          <a:xfrm>
            <a:off x="365760" y="36118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3648456"/>
            <a:ext cx="274320" cy="274320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786384" y="3611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 -  &lt;prefix&gt;-kv-lab</a:t>
            </a:r>
            <a:endParaRPr lang="en-US" sz="850" dirty="0"/>
          </a:p>
        </p:txBody>
      </p:sp>
      <p:sp>
        <p:nvSpPr>
          <p:cNvPr id="79" name="Text 70"/>
          <p:cNvSpPr/>
          <p:nvPr/>
        </p:nvSpPr>
        <p:spPr>
          <a:xfrm>
            <a:off x="786384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access model · No connection strings · All secrets retrieved at runtime via managed identity</a:t>
            </a:r>
            <a:endParaRPr lang="en-US" sz="700" dirty="0"/>
          </a:p>
        </p:txBody>
      </p:sp>
      <p:sp>
        <p:nvSpPr>
          <p:cNvPr id="80" name="Shape 71"/>
          <p:cNvSpPr/>
          <p:nvPr/>
        </p:nvSpPr>
        <p:spPr>
          <a:xfrm>
            <a:off x="365760" y="41148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336" y="4151376"/>
            <a:ext cx="274320" cy="274320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786384" y="41148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Analytics  -  &lt;prefix&gt;-law-lab</a:t>
            </a:r>
            <a:endParaRPr lang="en-US" sz="850" dirty="0"/>
          </a:p>
        </p:txBody>
      </p:sp>
      <p:sp>
        <p:nvSpPr>
          <p:cNvPr id="83" name="Text 73"/>
          <p:cNvSpPr/>
          <p:nvPr/>
        </p:nvSpPr>
        <p:spPr>
          <a:xfrm>
            <a:off x="786384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audit sink · KQL queries capturing every FHIR read, write, and export operation</a:t>
            </a:r>
            <a:endParaRPr lang="en-US" sz="700" dirty="0"/>
          </a:p>
        </p:txBody>
      </p:sp>
      <p:sp>
        <p:nvSpPr>
          <p:cNvPr id="84" name="Shape 74"/>
          <p:cNvSpPr/>
          <p:nvPr/>
        </p:nvSpPr>
        <p:spPr>
          <a:xfrm>
            <a:off x="365760" y="461772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336" y="4654296"/>
            <a:ext cx="274320" cy="274320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786384" y="46177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Alert  -  alert-la-hipaa-failed-runs-v2</a:t>
            </a:r>
            <a:endParaRPr lang="en-US" sz="850" dirty="0"/>
          </a:p>
        </p:txBody>
      </p:sp>
      <p:sp>
        <p:nvSpPr>
          <p:cNvPr id="87" name="Text 76"/>
          <p:cNvSpPr/>
          <p:nvPr/>
        </p:nvSpPr>
        <p:spPr>
          <a:xfrm>
            <a:off x="786384" y="4818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2 · RunsFailed &gt; 5 / 5 min · Fires in ~5 min (primary) · Budget at 50/80/99% (backstop)</a:t>
            </a:r>
            <a:endParaRPr lang="en-US" sz="700" dirty="0"/>
          </a:p>
        </p:txBody>
      </p:sp>
      <p:sp>
        <p:nvSpPr>
          <p:cNvPr id="88" name="Shape 77"/>
          <p:cNvSpPr/>
          <p:nvPr/>
        </p:nvSpPr>
        <p:spPr>
          <a:xfrm>
            <a:off x="365760" y="51206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336" y="5157216"/>
            <a:ext cx="274320" cy="274320"/>
          </a:xfrm>
          <a:prstGeom prst="rect">
            <a:avLst/>
          </a:prstGeom>
        </p:spPr>
      </p:pic>
      <p:sp>
        <p:nvSpPr>
          <p:cNvPr id="90" name="Text 78"/>
          <p:cNvSpPr/>
          <p:nvPr/>
        </p:nvSpPr>
        <p:spPr>
          <a:xfrm>
            <a:off x="786384" y="5120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 -  OIDC Federated Identity</a:t>
            </a:r>
            <a:endParaRPr lang="en-US" sz="850" dirty="0"/>
          </a:p>
        </p:txBody>
      </p:sp>
      <p:sp>
        <p:nvSpPr>
          <p:cNvPr id="91" name="Text 79"/>
          <p:cNvSpPr/>
          <p:nvPr/>
        </p:nvSpPr>
        <p:spPr>
          <a:xfrm>
            <a:off x="786384" y="5321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stored secrets · No client secrets or subscription keys in GitHub · Federated identity to Azure</a:t>
            </a:r>
            <a:endParaRPr lang="en-US" sz="700" dirty="0"/>
          </a:p>
        </p:txBody>
      </p:sp>
      <p:sp>
        <p:nvSpPr>
          <p:cNvPr id="92" name="Shape 80"/>
          <p:cNvSpPr/>
          <p:nvPr/>
        </p:nvSpPr>
        <p:spPr>
          <a:xfrm>
            <a:off x="429768" y="5715000"/>
            <a:ext cx="146304" cy="14630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1"/>
          <p:cNvSpPr/>
          <p:nvPr/>
        </p:nvSpPr>
        <p:spPr>
          <a:xfrm>
            <a:off x="786384" y="5623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Tags  -  All 10 Resources</a:t>
            </a:r>
            <a:endParaRPr lang="en-US" sz="850" dirty="0"/>
          </a:p>
        </p:txBody>
      </p:sp>
      <p:sp>
        <p:nvSpPr>
          <p:cNvPr id="94" name="Text 82"/>
          <p:cNvSpPr/>
          <p:nvPr/>
        </p:nvSpPr>
        <p:spPr>
          <a:xfrm>
            <a:off x="786384" y="5824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DataClassification=PHI · ComplianceFramework=HIPAA · Environment=Lab · Owner=&lt;operator&gt; · Policy deny effect</a:t>
            </a:r>
            <a:endParaRPr lang="en-US" sz="700" dirty="0"/>
          </a:p>
        </p:txBody>
      </p:sp>
      <p:sp>
        <p:nvSpPr>
          <p:cNvPr id="95" name="Shape 83"/>
          <p:cNvSpPr/>
          <p:nvPr/>
        </p:nvSpPr>
        <p:spPr>
          <a:xfrm>
            <a:off x="429768" y="6217920"/>
            <a:ext cx="146304" cy="146304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84"/>
          <p:cNvSpPr/>
          <p:nvPr/>
        </p:nvSpPr>
        <p:spPr>
          <a:xfrm>
            <a:off x="786384" y="6126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Policy  -  Compliance Gate</a:t>
            </a:r>
            <a:endParaRPr lang="en-US" sz="850" dirty="0"/>
          </a:p>
        </p:txBody>
      </p:sp>
      <p:sp>
        <p:nvSpPr>
          <p:cNvPr id="97" name="Text 85"/>
          <p:cNvSpPr/>
          <p:nvPr/>
        </p:nvSpPr>
        <p:spPr>
          <a:xfrm>
            <a:off x="786384" y="6327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effect blocks deployments missing HIPAA tags · CI/CD compliance gate: az policy trigger-scan</a:t>
            </a:r>
            <a:endParaRPr lang="en-US" sz="700" dirty="0"/>
          </a:p>
        </p:txBody>
      </p:sp>
      <p:sp>
        <p:nvSpPr>
          <p:cNvPr id="98" name="Shape 86"/>
          <p:cNvSpPr/>
          <p:nvPr/>
        </p:nvSpPr>
        <p:spPr>
          <a:xfrm>
            <a:off x="5166360" y="3154680"/>
            <a:ext cx="6720840" cy="1755648"/>
          </a:xfrm>
          <a:prstGeom prst="rect">
            <a:avLst/>
          </a:prstGeom>
          <a:solidFill>
            <a:srgbClr val="EBF5FB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Shape 87"/>
          <p:cNvSpPr/>
          <p:nvPr/>
        </p:nvSpPr>
        <p:spPr>
          <a:xfrm>
            <a:off x="5166360" y="3154680"/>
            <a:ext cx="672084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8"/>
          <p:cNvSpPr/>
          <p:nvPr/>
        </p:nvSpPr>
        <p:spPr>
          <a:xfrm>
            <a:off x="53035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Readiness Layer</a:t>
            </a:r>
            <a:endParaRPr lang="en-US" sz="1100" dirty="0"/>
          </a:p>
        </p:txBody>
      </p:sp>
      <p:sp>
        <p:nvSpPr>
          <p:cNvPr id="101" name="Text 89"/>
          <p:cNvSpPr/>
          <p:nvPr/>
        </p:nvSpPr>
        <p:spPr>
          <a:xfrm>
            <a:off x="97383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data governance infrastructure for responsible clinical AI deployment</a:t>
            </a:r>
            <a:endParaRPr lang="en-US" sz="700" dirty="0"/>
          </a:p>
        </p:txBody>
      </p:sp>
      <p:sp>
        <p:nvSpPr>
          <p:cNvPr id="102" name="Shape 90"/>
          <p:cNvSpPr/>
          <p:nvPr/>
        </p:nvSpPr>
        <p:spPr>
          <a:xfrm>
            <a:off x="5303520" y="370332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1"/>
          <p:cNvSpPr/>
          <p:nvPr/>
        </p:nvSpPr>
        <p:spPr>
          <a:xfrm>
            <a:off x="5513832" y="36301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De-identified NDJSON export</a:t>
            </a:r>
            <a:r>
              <a:rPr lang="en-US" sz="7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CRYPTOHASH on name + birthDate per HIPAA Safe Harbor method 2. Ready for ML training pipelines.</a:t>
            </a:r>
            <a:endParaRPr lang="en-US" sz="750" dirty="0"/>
          </a:p>
        </p:txBody>
      </p:sp>
      <p:sp>
        <p:nvSpPr>
          <p:cNvPr id="104" name="Shape 92"/>
          <p:cNvSpPr/>
          <p:nvPr/>
        </p:nvSpPr>
        <p:spPr>
          <a:xfrm>
            <a:off x="5303520" y="405993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3"/>
          <p:cNvSpPr/>
          <p:nvPr/>
        </p:nvSpPr>
        <p:spPr>
          <a:xfrm>
            <a:off x="5513832" y="39867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OperationOutcome validation gate</a:t>
            </a:r>
            <a:r>
              <a:rPr lang="en-US" sz="7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invalid resources dead-lettered, not silently consumed by downstream models or analytics.</a:t>
            </a:r>
            <a:endParaRPr lang="en-US" sz="750" dirty="0"/>
          </a:p>
        </p:txBody>
      </p:sp>
      <p:sp>
        <p:nvSpPr>
          <p:cNvPr id="106" name="Shape 94"/>
          <p:cNvSpPr/>
          <p:nvPr/>
        </p:nvSpPr>
        <p:spPr>
          <a:xfrm>
            <a:off x="5303520" y="4416552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5"/>
          <p:cNvSpPr/>
          <p:nvPr/>
        </p:nvSpPr>
        <p:spPr>
          <a:xfrm>
            <a:off x="5513832" y="43434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lineage via Log Analytics</a:t>
            </a:r>
            <a:r>
              <a:rPr lang="en-US" sz="7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traceable data provenance on every resource entering or leaving the system.</a:t>
            </a:r>
            <a:endParaRPr lang="en-US" sz="750" dirty="0"/>
          </a:p>
        </p:txBody>
      </p:sp>
      <p:sp>
        <p:nvSpPr>
          <p:cNvPr id="108" name="Shape 96"/>
          <p:cNvSpPr/>
          <p:nvPr/>
        </p:nvSpPr>
        <p:spPr>
          <a:xfrm>
            <a:off x="5303520" y="4696009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97"/>
          <p:cNvSpPr/>
          <p:nvPr/>
        </p:nvSpPr>
        <p:spPr>
          <a:xfrm>
            <a:off x="5513832" y="45994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AI/ML SaMD alignment</a:t>
            </a:r>
            <a:r>
              <a:rPr lang="en-US" sz="7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governance controls required under the FDA Action Plan for AI/ML-based Software as a Medical Device.</a:t>
            </a:r>
            <a:endParaRPr lang="en-US" sz="750" dirty="0"/>
          </a:p>
        </p:txBody>
      </p:sp>
      <p:sp>
        <p:nvSpPr>
          <p:cNvPr id="110" name="Shape 98"/>
          <p:cNvSpPr/>
          <p:nvPr/>
        </p:nvSpPr>
        <p:spPr>
          <a:xfrm>
            <a:off x="5166360" y="5074920"/>
            <a:ext cx="67208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99"/>
          <p:cNvSpPr/>
          <p:nvPr/>
        </p:nvSpPr>
        <p:spPr>
          <a:xfrm>
            <a:off x="5257800" y="507492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 - Architecture Scope</a:t>
            </a:r>
            <a:endParaRPr lang="en-US" sz="850" dirty="0"/>
          </a:p>
        </p:txBody>
      </p:sp>
      <p:sp>
        <p:nvSpPr>
          <p:cNvPr id="112" name="Shape 100"/>
          <p:cNvSpPr/>
          <p:nvPr/>
        </p:nvSpPr>
        <p:spPr>
          <a:xfrm>
            <a:off x="5166360" y="5330952"/>
            <a:ext cx="658368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01"/>
          <p:cNvSpPr/>
          <p:nvPr/>
        </p:nvSpPr>
        <p:spPr>
          <a:xfrm>
            <a:off x="5824728" y="5330952"/>
            <a:ext cx="6062472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02"/>
          <p:cNvSpPr/>
          <p:nvPr/>
        </p:nvSpPr>
        <p:spPr>
          <a:xfrm>
            <a:off x="5212080" y="5330952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750" dirty="0"/>
          </a:p>
        </p:txBody>
      </p:sp>
      <p:sp>
        <p:nvSpPr>
          <p:cNvPr id="115" name="Text 103"/>
          <p:cNvSpPr/>
          <p:nvPr/>
        </p:nvSpPr>
        <p:spPr>
          <a:xfrm>
            <a:off x="5897880" y="5330952"/>
            <a:ext cx="5952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Layer: Service Bus dead-letter routing · per-message lock token · HL7 delivery guarantees</a:t>
            </a:r>
            <a:endParaRPr lang="en-US" sz="700" dirty="0"/>
          </a:p>
        </p:txBody>
      </p:sp>
      <p:sp>
        <p:nvSpPr>
          <p:cNvPr id="116" name="Shape 104"/>
          <p:cNvSpPr/>
          <p:nvPr/>
        </p:nvSpPr>
        <p:spPr>
          <a:xfrm>
            <a:off x="5166360" y="5550408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05"/>
          <p:cNvSpPr/>
          <p:nvPr/>
        </p:nvSpPr>
        <p:spPr>
          <a:xfrm>
            <a:off x="5824728" y="5550408"/>
            <a:ext cx="606247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06"/>
          <p:cNvSpPr/>
          <p:nvPr/>
        </p:nvSpPr>
        <p:spPr>
          <a:xfrm>
            <a:off x="5212080" y="5550408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750" dirty="0"/>
          </a:p>
        </p:txBody>
      </p:sp>
      <p:sp>
        <p:nvSpPr>
          <p:cNvPr id="119" name="Text 107"/>
          <p:cNvSpPr/>
          <p:nvPr/>
        </p:nvSpPr>
        <p:spPr>
          <a:xfrm>
            <a:off x="5897880" y="5550408"/>
            <a:ext cx="5952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Transformation: AHDS $convert-data · ORU_R01 Liquid template · validation gate before write</a:t>
            </a:r>
            <a:endParaRPr lang="en-US" sz="700" dirty="0"/>
          </a:p>
        </p:txBody>
      </p:sp>
      <p:sp>
        <p:nvSpPr>
          <p:cNvPr id="120" name="Shape 108"/>
          <p:cNvSpPr/>
          <p:nvPr/>
        </p:nvSpPr>
        <p:spPr>
          <a:xfrm>
            <a:off x="5166360" y="5769864"/>
            <a:ext cx="658368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09"/>
          <p:cNvSpPr/>
          <p:nvPr/>
        </p:nvSpPr>
        <p:spPr>
          <a:xfrm>
            <a:off x="5824728" y="5769864"/>
            <a:ext cx="6062472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10"/>
          <p:cNvSpPr/>
          <p:nvPr/>
        </p:nvSpPr>
        <p:spPr>
          <a:xfrm>
            <a:off x="5212080" y="5769864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50" dirty="0"/>
          </a:p>
        </p:txBody>
      </p:sp>
      <p:sp>
        <p:nvSpPr>
          <p:cNvPr id="123" name="Text 111"/>
          <p:cNvSpPr/>
          <p:nvPr/>
        </p:nvSpPr>
        <p:spPr>
          <a:xfrm>
            <a:off x="5897880" y="5769864"/>
            <a:ext cx="5952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Orchestration: Logic App Consumption · dead-letter on failure · FHIR search + DiagnosticReport</a:t>
            </a:r>
            <a:endParaRPr lang="en-US" sz="700" dirty="0"/>
          </a:p>
        </p:txBody>
      </p:sp>
      <p:sp>
        <p:nvSpPr>
          <p:cNvPr id="124" name="Shape 112"/>
          <p:cNvSpPr/>
          <p:nvPr/>
        </p:nvSpPr>
        <p:spPr>
          <a:xfrm>
            <a:off x="5166360" y="5989320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13"/>
          <p:cNvSpPr/>
          <p:nvPr/>
        </p:nvSpPr>
        <p:spPr>
          <a:xfrm>
            <a:off x="5824728" y="5989320"/>
            <a:ext cx="606247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14"/>
          <p:cNvSpPr/>
          <p:nvPr/>
        </p:nvSpPr>
        <p:spPr>
          <a:xfrm>
            <a:off x="5212080" y="5989320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127" name="Text 115"/>
          <p:cNvSpPr/>
          <p:nvPr/>
        </p:nvSpPr>
        <p:spPr>
          <a:xfrm>
            <a:off x="5897880" y="5989320"/>
            <a:ext cx="5952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Control: SMART scopes at Entra ID · Managed Identity · OperationOutcome quality gate</a:t>
            </a:r>
            <a:endParaRPr lang="en-US" sz="700" dirty="0"/>
          </a:p>
        </p:txBody>
      </p:sp>
      <p:sp>
        <p:nvSpPr>
          <p:cNvPr id="128" name="Shape 116"/>
          <p:cNvSpPr/>
          <p:nvPr/>
        </p:nvSpPr>
        <p:spPr>
          <a:xfrm>
            <a:off x="5166360" y="6208776"/>
            <a:ext cx="658368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17"/>
          <p:cNvSpPr/>
          <p:nvPr/>
        </p:nvSpPr>
        <p:spPr>
          <a:xfrm>
            <a:off x="5824728" y="6208776"/>
            <a:ext cx="6062472" cy="219456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18"/>
          <p:cNvSpPr/>
          <p:nvPr/>
        </p:nvSpPr>
        <p:spPr>
          <a:xfrm>
            <a:off x="5212080" y="6208776"/>
            <a:ext cx="612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750" dirty="0"/>
          </a:p>
        </p:txBody>
      </p:sp>
      <p:sp>
        <p:nvSpPr>
          <p:cNvPr id="131" name="Text 119"/>
          <p:cNvSpPr/>
          <p:nvPr/>
        </p:nvSpPr>
        <p:spPr>
          <a:xfrm>
            <a:off x="5897880" y="6208776"/>
            <a:ext cx="5952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DevOps: CRYPTOHASH de-ID · Synapse OPENROWSET · Bicep IaC · OIDC CI/CD</a:t>
            </a:r>
            <a:endParaRPr lang="en-US" sz="700" dirty="0"/>
          </a:p>
        </p:txBody>
      </p:sp>
      <p:sp>
        <p:nvSpPr>
          <p:cNvPr id="132" name="Shape 12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21"/>
          <p:cNvSpPr/>
          <p:nvPr/>
        </p:nvSpPr>
        <p:spPr>
          <a:xfrm>
            <a:off x="182880" y="6675120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Joel Onwuemene  ·  Healthcare Integration Consultant  ·  FHIR | HL7 | Azure | Epic | Cerner  ·  github.com/Joelonwuemene/azure-fhir-pipeline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433</Words>
  <Application>Microsoft Macintosh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Healthcare FHIR Integration Pipeline</dc:title>
  <dc:subject>PptxGenJS Presentation</dc:subject>
  <dc:creator>Joel Onwuemene</dc:creator>
  <cp:lastModifiedBy>Joel Onwuemene</cp:lastModifiedBy>
  <cp:revision>2</cp:revision>
  <dcterms:created xsi:type="dcterms:W3CDTF">2026-04-09T18:45:05Z</dcterms:created>
  <dcterms:modified xsi:type="dcterms:W3CDTF">2026-04-09T19:04:43Z</dcterms:modified>
</cp:coreProperties>
</file>